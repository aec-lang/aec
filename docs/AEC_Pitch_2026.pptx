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سن ۱۳ سال و بازهٔ ساخت حدود سه روز بنا به گفتهٔ سازنده است. این دک، قابلیت کنونی و چشم‌انداز را جداگانه نام می‌برد.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مسئلهٔ معماری محصول؛ ادعای آماری یا اندازه‌گیری بازار نیست.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AEC یک زبان تفسیرشونده با parser، AST، checker، runtime و تبدیل native UI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تایپ‌چکر بخشی از تحلیل ایستا را انجام می‌دهد و کامل نیست؛ importها فعلاً در یک namespace ادغام می‌شوند.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شش crate در Cargo workspace. پیاده‌سازی زبان اختصاصی است اما از Rust، pest، egui، reqwest و SQLite بهره می‌برد.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سطح Screen در branch شرطی حفظ می‌شود. state محلی component/loop چرخهٔ حیات کاملاً تعریف‌شده ندارد.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ظاهر theme و RTL باید روی سیستم‌عامل مقصد هم بررسی شود؛ renderer سطح پایین متعلق به egui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adapter مدل OpenAI-compatible است. هیچ ادعای کیفیت پاسخ، agent خودمختار، اجرای آنلاین demo یا latency benchmark مطرح نیست.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بدون permissions رفتار builtinها unrestricted است. برای کد غیرقابل‌اعتماد OS sandbox لازم است؛ file/path security نیز ارزیابی مستقل می‌خواهد.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نتیجهٔ آخرین اجرای محلی لینوکس: ۲۲۸ pass، ۰ fail، ۱ ignored. cargo check بدون warning. هیچ traction یا benchmark ساختگی مطرح نیست.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سن و مدت زمان ادعای شخصی سازنده است. «از صفر» ناظر به طراحی و پیاده‌سازی لایه‌های اختصاصی زبان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در roadmap نمرهٔ وزنی حدود ۹۱٪ است و production حدود ۷۸٪ برآورد شده؛ این امتیازها خودارزیابی‌اند و معیار مستقل نیستند.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slide چشم‌انداز است، نه گزارش تحقق سه مرحله. AECPM در حال حاضر وجود ندارد.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در جلسهٔ بعد: نمایش کد، اجرای تست‌ها، بررسی محدودیت‌ها و تعریف یک مسئلهٔ آزمایشی مشترک. هیچ جذب سرمایه، مشتری یا استفادهٔ تولیدی ادعا نمی‌شود.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معرفی محصول  /  ۲۰۲۶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۱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61872"/>
            <a:ext cx="82296" cy="4434840"/>
          </a:xfrm>
          <a:prstGeom prst="rect">
            <a:avLst/>
          </a:prstGeom>
          <a:solidFill>
            <a:srgbClr val="17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44168"/>
            <a:ext cx="8961120" cy="11155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7600" b="1">
                <a:solidFill>
                  <a:srgbClr val="0F1926"/>
                </a:solidFill>
                <a:latin typeface="DejaVu Sans Mono"/>
              </a:rPr>
              <a:t>AEC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87168"/>
            <a:ext cx="10287000" cy="10058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800" b="1">
                <a:solidFill>
                  <a:srgbClr val="0F1926"/>
                </a:solidFill>
                <a:latin typeface="Vazirmatn"/>
                <a:cs typeface="Vazirmatn"/>
              </a:rPr>
              <a:t>زبانی برای ساخت ایجنت‌های قابل‌استفاده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803904"/>
            <a:ext cx="10241280" cy="56692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400" b="0">
                <a:solidFill>
                  <a:srgbClr val="1769C3"/>
                </a:solidFill>
                <a:latin typeface="Vazirmatn"/>
                <a:cs typeface="Vazirmatn"/>
              </a:rPr>
              <a:t>منطق  •  رابط بومی  •  حافظه  •  اتصال مدل  •  مجوز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074920"/>
            <a:ext cx="9966960" cy="4297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100" b="0">
                <a:solidFill>
                  <a:srgbClr val="59697A"/>
                </a:solidFill>
                <a:latin typeface="Vazirmatn"/>
                <a:cs typeface="Vazirmatn"/>
              </a:rPr>
              <a:t>محمدمهدی علوی  |  سازندهٔ ۱۳ ساله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مسئله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ساخت ایجنت هنوز تکه‌تکه است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01952"/>
            <a:ext cx="10588752" cy="64008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0F1926"/>
                </a:solidFill>
                <a:latin typeface="Vazirmatn"/>
                <a:cs typeface="Vazirmatn"/>
              </a:rPr>
              <a:t>یک تجربهٔ واحد، امروز معمولاً میان چند لایه تقسیم می‌شود.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7584" y="2779776"/>
            <a:ext cx="91440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500" b="1">
                <a:solidFill>
                  <a:srgbClr val="1769C3"/>
                </a:solidFill>
                <a:latin typeface="Vazirmatn"/>
                <a:cs typeface="Vazirmatn"/>
              </a:rPr>
              <a:t>۰۱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779776"/>
            <a:ext cx="443484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400" b="1">
                <a:solidFill>
                  <a:srgbClr val="0F1926"/>
                </a:solidFill>
                <a:latin typeface="Vazirmatn"/>
                <a:cs typeface="Vazirmatn"/>
              </a:rPr>
              <a:t>منطق و اتصال مدل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779776"/>
            <a:ext cx="4480560" cy="4754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59697A"/>
                </a:solidFill>
                <a:latin typeface="Vazirmatn"/>
                <a:cs typeface="Vazirmatn"/>
              </a:rPr>
              <a:t>تعریف رفتار، API و جریان داده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3493008"/>
            <a:ext cx="10287000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87584" y="3739896"/>
            <a:ext cx="91440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500" b="1">
                <a:solidFill>
                  <a:srgbClr val="1769C3"/>
                </a:solidFill>
                <a:latin typeface="Vazirmatn"/>
                <a:cs typeface="Vazirmatn"/>
              </a:rPr>
              <a:t>۰۲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739896"/>
            <a:ext cx="443484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400" b="1">
                <a:solidFill>
                  <a:srgbClr val="0F1926"/>
                </a:solidFill>
                <a:latin typeface="Vazirmatn"/>
                <a:cs typeface="Vazirmatn"/>
              </a:rPr>
              <a:t>رابط و تعامل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739896"/>
            <a:ext cx="4480560" cy="4754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59697A"/>
                </a:solidFill>
                <a:latin typeface="Vazirmatn"/>
                <a:cs typeface="Vazirmatn"/>
              </a:rPr>
              <a:t>پنجره، state و واکنش به رویداد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453128"/>
            <a:ext cx="10287000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87584" y="4700016"/>
            <a:ext cx="91440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500" b="1">
                <a:solidFill>
                  <a:srgbClr val="1769C3"/>
                </a:solidFill>
                <a:latin typeface="Vazirmatn"/>
                <a:cs typeface="Vazirmatn"/>
              </a:rPr>
              <a:t>۰۳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700016"/>
            <a:ext cx="4434840" cy="4572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400" b="1">
                <a:solidFill>
                  <a:srgbClr val="0F1926"/>
                </a:solidFill>
                <a:latin typeface="Vazirmatn"/>
                <a:cs typeface="Vazirmatn"/>
              </a:rPr>
              <a:t>حافظه و حدود دسترسی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700016"/>
            <a:ext cx="4480560" cy="4754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59697A"/>
                </a:solidFill>
                <a:latin typeface="Vazirmatn"/>
                <a:cs typeface="Vazirmatn"/>
              </a:rPr>
              <a:t>ماندگاری گفتگو، شبکه و فایل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413248"/>
            <a:ext cx="10287000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پیشنهاد AEC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یک زبان؛ یک مدل ذهنی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469880" cy="71323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000" b="1">
                <a:solidFill>
                  <a:srgbClr val="0F1926"/>
                </a:solidFill>
                <a:latin typeface="Vazirmatn"/>
                <a:cs typeface="Vazirmatn"/>
              </a:rPr>
              <a:t>در AEC منطق برنامه و رابط کاربری دو جزیرهٔ جدا نیستند.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4040" y="2971800"/>
            <a:ext cx="1691640" cy="43891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500" b="1">
                <a:solidFill>
                  <a:srgbClr val="1769C3"/>
                </a:solidFill>
                <a:latin typeface="Vazirmatn"/>
                <a:cs typeface="Vazirmatn"/>
              </a:rPr>
              <a:t>فایل AEC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566160"/>
            <a:ext cx="9079992" cy="41148"/>
          </a:xfrm>
          <a:prstGeom prst="rect">
            <a:avLst/>
          </a:prstGeom>
          <a:solidFill>
            <a:srgbClr val="17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3886200"/>
            <a:ext cx="20116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300" b="1">
                <a:solidFill>
                  <a:srgbClr val="0F1926"/>
                </a:solidFill>
                <a:latin typeface="Vazirmatn"/>
                <a:cs typeface="Vazirmatn"/>
              </a:rPr>
              <a:t>زبان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3886200"/>
            <a:ext cx="20116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300" b="1">
                <a:solidFill>
                  <a:srgbClr val="0F1926"/>
                </a:solidFill>
                <a:latin typeface="Vazirmatn"/>
                <a:cs typeface="Vazirmatn"/>
              </a:rPr>
              <a:t>چکر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886200"/>
            <a:ext cx="20116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300" b="1">
                <a:solidFill>
                  <a:srgbClr val="0F1926"/>
                </a:solidFill>
                <a:latin typeface="Vazirmatn"/>
                <a:cs typeface="Vazirmatn"/>
              </a:rPr>
              <a:t>مفسر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3886200"/>
            <a:ext cx="20116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300" b="1">
                <a:solidFill>
                  <a:srgbClr val="0F1926"/>
                </a:solidFill>
                <a:latin typeface="Vazirmatn"/>
                <a:cs typeface="Vazirmatn"/>
              </a:rPr>
              <a:t>رابط بومی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515600" cy="5486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000" b="0">
                <a:solidFill>
                  <a:srgbClr val="59697A"/>
                </a:solidFill>
                <a:latin typeface="Vazirmatn"/>
                <a:cs typeface="Vazirmatn"/>
              </a:rPr>
              <a:t>امروز: نمونهٔ اجرایی واقعی با CLI، UI و تست محلی.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زبان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سینتکس اختصاصی، رفتار قابل‌بررسی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01952"/>
            <a:ext cx="502920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1769C3"/>
                </a:solidFill>
                <a:latin typeface="Vazirmatn"/>
                <a:cs typeface="Vazirmatn"/>
              </a:rPr>
              <a:t>بیان منطق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49834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0F1926"/>
                </a:solidFill>
                <a:latin typeface="Vazirmatn"/>
                <a:cs typeface="Vazirmatn"/>
              </a:rPr>
              <a:t>تجربهٔ توسعه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1616" y="1993392"/>
            <a:ext cx="22860" cy="33375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تابع، let / var و کنترل جریان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419856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نوع‌ها، آرایه و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142232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closure، interpolation و Result /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چک پیش از اجرا با گزارش خطا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19856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 import چندفایلی نسبی و بازگشتی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42232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CLI: check، ast و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700" b="0">
                <a:solidFill>
                  <a:srgbClr val="59697A"/>
                </a:solidFill>
                <a:latin typeface="Vazirmatn"/>
                <a:cs typeface="Vazirmatn"/>
              </a:rPr>
              <a:t>مرز فعلی: alias و قواعد pub هنوز تکمیل نشده‌اند.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معماری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شش بخش اختصاصی، یک مسیر اجرا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2011680"/>
            <a:ext cx="50292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2400" b="1">
                <a:solidFill>
                  <a:srgbClr val="1769C3"/>
                </a:solidFill>
                <a:latin typeface="DejaVu Sans Mono"/>
              </a:rPr>
              <a:t>aec-ast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2432304"/>
            <a:ext cx="5029200" cy="4937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ساختار برنامه و span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3035808"/>
            <a:ext cx="4983480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2400" b="1">
                <a:solidFill>
                  <a:srgbClr val="1769C3"/>
                </a:solidFill>
                <a:latin typeface="DejaVu Sans Mono"/>
              </a:rPr>
              <a:t>aec-parser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5029200" cy="4937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دستور زبان و ساخت 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35808"/>
            <a:ext cx="4983480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3246120"/>
            <a:ext cx="50292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2400" b="1">
                <a:solidFill>
                  <a:srgbClr val="1769C3"/>
                </a:solidFill>
                <a:latin typeface="DejaVu Sans Mono"/>
              </a:rPr>
              <a:t>aec-check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666744"/>
            <a:ext cx="5029200" cy="4937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تحلیل ایستا و خطای منبع‌دار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4270248"/>
            <a:ext cx="4983480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50292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2400" b="1">
                <a:solidFill>
                  <a:srgbClr val="1769C3"/>
                </a:solidFill>
                <a:latin typeface="DejaVu Sans Mono"/>
              </a:rPr>
              <a:t>aec-runtime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66744"/>
            <a:ext cx="5029200" cy="4937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مفسر، builtin، مدل و حافظه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70248"/>
            <a:ext cx="4983480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4480560"/>
            <a:ext cx="50292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2400" b="1">
                <a:solidFill>
                  <a:srgbClr val="1769C3"/>
                </a:solidFill>
                <a:latin typeface="DejaVu Sans Mono"/>
              </a:rPr>
              <a:t>aec-ui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901184"/>
            <a:ext cx="5029200" cy="4937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تبدیل UI به egui بومی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5504688"/>
            <a:ext cx="4983480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80560"/>
            <a:ext cx="5029200" cy="42062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2400" b="1">
                <a:solidFill>
                  <a:srgbClr val="1769C3"/>
                </a:solidFill>
                <a:latin typeface="DejaVu Sans Mono"/>
              </a:rPr>
              <a:t>aec-cli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01184"/>
            <a:ext cx="5029200" cy="493776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بارگذاری، check، ast و 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504688"/>
            <a:ext cx="4983480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رابط کاربری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UI در خود زبان زندگی می‌کند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01952"/>
            <a:ext cx="502920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1769C3"/>
                </a:solidFill>
                <a:latin typeface="Vazirmatn"/>
                <a:cs typeface="Vazirmatn"/>
              </a:rPr>
              <a:t>تعریف رابط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49834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0F1926"/>
                </a:solidFill>
                <a:latin typeface="Vazirmatn"/>
                <a:cs typeface="Vazirmatn"/>
              </a:rPr>
              <a:t>اجرای بومی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1616" y="1993392"/>
            <a:ext cx="22860" cy="33375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Screen و درخت widget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419856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Input، Button، Messages و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142232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رویداد، شرط، حلقه و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رندر با egui / eframe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19856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همگام‌سازی state صفحه با مفسر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42232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فونت فارسی Vazirmatn و RTL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700" b="0">
                <a:solidFill>
                  <a:srgbClr val="59697A"/>
                </a:solidFill>
                <a:latin typeface="Vazirmatn"/>
                <a:cs typeface="Vazirmatn"/>
              </a:rPr>
              <a:t>دموی chat موجود آفلاین است: پاسخ echo، نه پاسخ مدل.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طراحی تجربه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کامپوننت و تم، بخشی از زبان‌اند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01952"/>
            <a:ext cx="502920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1769C3"/>
                </a:solidFill>
                <a:latin typeface="Vazirmatn"/>
                <a:cs typeface="Vazirmatn"/>
              </a:rPr>
              <a:t>کامپوننت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49834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0F1926"/>
                </a:solidFill>
                <a:latin typeface="Vazirmatn"/>
                <a:cs typeface="Vazirmatn"/>
              </a:rPr>
              <a:t>تم و استایل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1616" y="1993392"/>
            <a:ext cx="22860" cy="33375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propهای صریح و render محلی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419856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ترکیب UIهای قابل‌استفادهٔ دوباره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142232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حفاظت از expansion بازگشتی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tokenهای رنگ و متن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19856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وراثت theme و 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42232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استایل inline روی عناصر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700" b="0">
                <a:solidFill>
                  <a:srgbClr val="59697A"/>
                </a:solidFill>
                <a:latin typeface="Vazirmatn"/>
                <a:cs typeface="Vazirmatn"/>
              </a:rPr>
              <a:t>نمونهٔ واقعی: examples/theme.aec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اتصال‌ها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از نمونهٔ ساده تا ایجنتِ متصل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01952"/>
            <a:ext cx="502920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1769C3"/>
                </a:solidFill>
                <a:latin typeface="Vazirmatn"/>
                <a:cs typeface="Vazirmatn"/>
              </a:rPr>
              <a:t>اکنون در 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49834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0F1926"/>
                </a:solidFill>
                <a:latin typeface="Vazirmatn"/>
                <a:cs typeface="Vazirmatn"/>
              </a:rPr>
              <a:t>سناریوی محصول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1616" y="1993392"/>
            <a:ext cx="22860" cy="33375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مدلِ سازگار با OpenAI: llm.complete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419856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HTTP، JSON، فایل، crypto و regex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142232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حافظهٔ مکالمه با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ثبت مکالمه و بازیابی بین اجراها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19856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ترکیب منطق، UI و داده در یک فایل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42232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مدل واقعی با کلید و دسترسی مجاز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700" b="0">
                <a:solidFill>
                  <a:srgbClr val="59697A"/>
                </a:solidFill>
                <a:latin typeface="Vazirmatn"/>
                <a:cs typeface="Vazirmatn"/>
              </a:rPr>
              <a:t>فراخوانی مدل blocking است؛ نمونهٔ chat آفلاین از API استفاده نمی‌کند.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اعتماد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حدود دسترسی صریح، نه ادعای sandbox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10424160" cy="7772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0F1926"/>
                </a:solidFill>
                <a:latin typeface="Vazirmatn"/>
                <a:cs typeface="Vazirmatn"/>
              </a:rPr>
              <a:t>با permissions: شبکه و فایل allowlist دارند؛ shell.run رد می‌شود.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99232"/>
            <a:ext cx="10396728" cy="84124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300" b="0">
                <a:solidFill>
                  <a:srgbClr val="0F1926"/>
                </a:solidFill>
                <a:latin typeface="Vazirmatn"/>
                <a:cs typeface="Vazirmatn"/>
              </a:rPr>
              <a:t>درخواست مدل هم از دروازهٔ شبکه عبور می‌کند و redirect در حالت محدود دنبال نمی‌شود.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279392"/>
            <a:ext cx="10561320" cy="32004"/>
          </a:xfrm>
          <a:prstGeom prst="rect">
            <a:avLst/>
          </a:prstGeom>
          <a:solidFill>
            <a:srgbClr val="17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617720"/>
            <a:ext cx="10469880" cy="7772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500" b="1">
                <a:solidFill>
                  <a:srgbClr val="1769C3"/>
                </a:solidFill>
                <a:latin typeface="Vazirmatn"/>
                <a:cs typeface="Vazirmatn"/>
              </a:rPr>
              <a:t>این یک محافظ درون‌مفسری است؛ ایزوله‌سازی سیستم‌عامل نیست.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شواهد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نمونهٔ اجرایی و آزمون‌پذیر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۱۰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1828800"/>
            <a:ext cx="3730752" cy="11430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6600" b="1">
                <a:solidFill>
                  <a:srgbClr val="1769C3"/>
                </a:solidFill>
                <a:latin typeface="Vazirmatn"/>
                <a:cs typeface="Vazirmatn"/>
              </a:rPr>
              <a:t>۲۲۸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880360"/>
            <a:ext cx="6327648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500" b="1">
                <a:solidFill>
                  <a:srgbClr val="0F1926"/>
                </a:solidFill>
                <a:latin typeface="Vazirmatn"/>
                <a:cs typeface="Vazirmatn"/>
              </a:rPr>
              <a:t>تست محلیِ قبول‌شده</a:t>
            </a:r>
          </a:p>
        </p:txBody>
      </p:sp>
      <p:sp>
        <p:nvSpPr>
          <p:cNvPr id="9" name="Rectangle 8"/>
          <p:cNvSpPr/>
          <p:nvPr/>
        </p:nvSpPr>
        <p:spPr>
          <a:xfrm>
            <a:off x="5468112" y="2002536"/>
            <a:ext cx="22860" cy="24231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28800"/>
            <a:ext cx="3200400" cy="11430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6600" b="1">
                <a:solidFill>
                  <a:srgbClr val="0F1926"/>
                </a:solidFill>
                <a:latin typeface="Vazirmatn"/>
                <a:cs typeface="Vazirmatn"/>
              </a:rPr>
              <a:t>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429000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400" b="1">
                <a:solidFill>
                  <a:srgbClr val="0F1926"/>
                </a:solidFill>
                <a:latin typeface="Vazirmatn"/>
                <a:cs typeface="Vazirmatn"/>
              </a:rPr>
              <a:t>crate در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90288"/>
            <a:ext cx="10149840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400" b="1">
                <a:solidFill>
                  <a:srgbClr val="1769C3"/>
                </a:solidFill>
                <a:latin typeface="Vazirmatn"/>
                <a:cs typeface="Vazirmatn"/>
              </a:rPr>
              <a:t>نمونهٔ import دو‌فایلی → خروجی ۴۲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41264"/>
            <a:ext cx="104698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700" b="0">
                <a:solidFill>
                  <a:srgbClr val="59697A"/>
                </a:solidFill>
                <a:latin typeface="Vazirmatn"/>
                <a:cs typeface="Vazirmatn"/>
              </a:rPr>
              <a:t>۱ تست ignored؛ CI سه‌سکویی نوشته شده اما اجرای راه‌دور هنوز تأیید نشده.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سازنده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۱۳ ساله؛ از ایده تا یک زبان واقعی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۱۱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79024" cy="7589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900" b="1">
                <a:solidFill>
                  <a:srgbClr val="0F1926"/>
                </a:solidFill>
                <a:latin typeface="Vazirmatn"/>
                <a:cs typeface="Vazirmatn"/>
              </a:rPr>
              <a:t>محمدمهدی علوی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488168" cy="694944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600" b="1">
                <a:solidFill>
                  <a:srgbClr val="1769C3"/>
                </a:solidFill>
                <a:latin typeface="Vazirmatn"/>
                <a:cs typeface="Vazirmatn"/>
              </a:rPr>
              <a:t>به گفتهٔ خودش، آغاز و رسیدن به این مرحله در حدود سه روز.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" y="3803904"/>
            <a:ext cx="10369296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10479024" cy="9601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200" b="0">
                <a:solidFill>
                  <a:srgbClr val="0F1926"/>
                </a:solidFill>
                <a:latin typeface="Vazirmatn"/>
                <a:cs typeface="Vazirmatn"/>
              </a:rPr>
              <a:t>زبان، پارسر، چکر، مفسر، CLI و لایهٔ رابط را به‌عنوان یک پروژهٔ واحد ساخته است.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10469880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800" b="0">
                <a:solidFill>
                  <a:srgbClr val="59697A"/>
                </a:solidFill>
                <a:latin typeface="Vazirmatn"/>
                <a:cs typeface="Vazirmatn"/>
              </a:rPr>
              <a:t>با اتکا به ابزارها و کتابخانه‌های متن‌بازِ زیربنایی؛ نه ادعای بازنویسی همه‌چیز.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شفافیت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فاصلهٔ امروز تا محصول بالغ روشن است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۱۲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01952"/>
            <a:ext cx="502920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1769C3"/>
                </a:solidFill>
                <a:latin typeface="Vazirmatn"/>
                <a:cs typeface="Vazirmatn"/>
              </a:rPr>
              <a:t>قابلیتِ موجود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4983480" cy="50292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700" b="1">
                <a:solidFill>
                  <a:srgbClr val="0F1926"/>
                </a:solidFill>
                <a:latin typeface="Vazirmatn"/>
                <a:cs typeface="Vazirmatn"/>
              </a:rPr>
              <a:t>مسیر تکمیل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1616" y="1993392"/>
            <a:ext cx="22860" cy="33375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زبان + runtime + UI native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3419856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حافظه و اتصال مدل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142232"/>
            <a:ext cx="4901184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تست محلی و راهنمای آغازین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pub / alias و چرخهٔ state محلی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19856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چکر عمیق‌تر و ارزیابی امنیتی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42232"/>
            <a:ext cx="4919472" cy="530352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900" b="0">
                <a:solidFill>
                  <a:srgbClr val="0F1926"/>
                </a:solidFill>
                <a:latin typeface="Vazirmatn"/>
                <a:cs typeface="Vazirmatn"/>
              </a:rPr>
              <a:t>CI واقعی، بسته‌بندی و مستندات کامل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700" b="0">
                <a:solidFill>
                  <a:srgbClr val="59697A"/>
                </a:solidFill>
                <a:latin typeface="Vazirmatn"/>
                <a:cs typeface="Vazirmatn"/>
              </a:rPr>
              <a:t>AECPM، async، IDE و A2A در چشم‌اندازند؛ هنوز قابلیت فعلی نیستند.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چشم‌انداز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یک بستر ساده برای ساخت ابزارهای هوشمند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۱۳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11095"/>
            <a:ext cx="10561320" cy="82296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900" b="1">
                <a:solidFill>
                  <a:srgbClr val="0F1926"/>
                </a:solidFill>
                <a:latin typeface="Vazirmatn"/>
                <a:cs typeface="Vazirmatn"/>
              </a:rPr>
              <a:t>توسعه‌دهنده، منطق و تجربهٔ کاربر را با یک زبان تعریف می‌کند.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3044952"/>
            <a:ext cx="2532888" cy="4297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400" b="1">
                <a:solidFill>
                  <a:srgbClr val="1769C3"/>
                </a:solidFill>
                <a:latin typeface="Vazirmatn"/>
                <a:cs typeface="Vazirmatn"/>
              </a:rPr>
              <a:t>اکنون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44952"/>
            <a:ext cx="7452360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000" b="0">
                <a:solidFill>
                  <a:srgbClr val="0F1926"/>
                </a:solidFill>
                <a:latin typeface="Vazirmatn"/>
                <a:cs typeface="Vazirmatn"/>
              </a:rPr>
              <a:t>نمونهٔ زبانی و UI اجرایی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739896"/>
            <a:ext cx="10222992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3977639"/>
            <a:ext cx="2532888" cy="4297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400" b="1">
                <a:solidFill>
                  <a:srgbClr val="1769C3"/>
                </a:solidFill>
                <a:latin typeface="Vazirmatn"/>
                <a:cs typeface="Vazirmatn"/>
              </a:rPr>
              <a:t>گام بعد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977639"/>
            <a:ext cx="7452360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000" b="0">
                <a:solidFill>
                  <a:srgbClr val="0F1926"/>
                </a:solidFill>
                <a:latin typeface="Vazirmatn"/>
                <a:cs typeface="Vazirmatn"/>
              </a:rPr>
              <a:t>ماژول‌های قابل‌انتشار و آزمون چندسکویی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4672583"/>
            <a:ext cx="10222992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4910328"/>
            <a:ext cx="2532888" cy="4297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400" b="1">
                <a:solidFill>
                  <a:srgbClr val="1769C3"/>
                </a:solidFill>
                <a:latin typeface="Vazirmatn"/>
                <a:cs typeface="Vazirmatn"/>
              </a:rPr>
              <a:t>بلندمدت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910328"/>
            <a:ext cx="7452360" cy="521207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000" b="0">
                <a:solidFill>
                  <a:srgbClr val="0F1926"/>
                </a:solidFill>
                <a:latin typeface="Vazirmatn"/>
                <a:cs typeface="Vazirmatn"/>
              </a:rPr>
              <a:t>اکوسیستم ابزار و توزیع، فقط با نیاز اثبات‌شده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5605272"/>
            <a:ext cx="10222992" cy="16459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0" y="246888"/>
            <a:ext cx="3063240" cy="3200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400" b="1">
                <a:solidFill>
                  <a:srgbClr val="1769C3"/>
                </a:solidFill>
                <a:latin typeface="Vazirmatn"/>
                <a:cs typeface="Vazirmatn"/>
              </a:rPr>
              <a:t>دعوت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04088"/>
            <a:ext cx="10808208" cy="68580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700" b="1">
                <a:solidFill>
                  <a:srgbClr val="0F1926"/>
                </a:solidFill>
                <a:latin typeface="Vazirmatn"/>
                <a:cs typeface="Vazirmatn"/>
              </a:rPr>
              <a:t>بیایید AEC را با مسئلهٔ واقعی بسنجیم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72768"/>
            <a:ext cx="10808208" cy="22860"/>
          </a:xfrm>
          <a:prstGeom prst="rect">
            <a:avLst/>
          </a:prstGeom>
          <a:solidFill>
            <a:srgbClr val="D2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55664"/>
            <a:ext cx="457200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1100" b="0">
                <a:solidFill>
                  <a:srgbClr val="59697A"/>
                </a:solidFill>
                <a:latin typeface="DejaVu Sans Mono"/>
              </a:rPr>
              <a:t>AEC  /  Agent Easy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55664"/>
            <a:ext cx="548640" cy="20116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1100" b="0">
                <a:solidFill>
                  <a:srgbClr val="59697A"/>
                </a:solidFill>
                <a:latin typeface="Vazirmatn"/>
                <a:cs typeface="Vazirmatn"/>
              </a:rPr>
              <a:t>۱۴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84248"/>
            <a:ext cx="10460736" cy="7772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3200" b="1">
                <a:solidFill>
                  <a:srgbClr val="0F1926"/>
                </a:solidFill>
                <a:latin typeface="Vazirmatn"/>
                <a:cs typeface="Vazirmatn"/>
              </a:rPr>
              <a:t>دموی فنی  •  ارزیابی معماری  •  پایلوت محدود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00400"/>
            <a:ext cx="10387584" cy="932688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r" rtl="1"/>
            <a:r>
              <a:rPr sz="2300" b="0">
                <a:solidFill>
                  <a:srgbClr val="59697A"/>
                </a:solidFill>
                <a:latin typeface="Vazirmatn"/>
                <a:cs typeface="Vazirmatn"/>
              </a:rPr>
              <a:t>برای تیم‌های AI، شرکت‌های محصول و کسانی که به سازنده‌های جوان فرصت می‌دهند.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" y="4590288"/>
            <a:ext cx="10515600" cy="32004"/>
          </a:xfrm>
          <a:prstGeom prst="rect">
            <a:avLst/>
          </a:prstGeom>
          <a:solidFill>
            <a:srgbClr val="176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965192"/>
            <a:ext cx="10332720" cy="777240"/>
          </a:xfrm>
          <a:prstGeom prst="rect">
            <a:avLst/>
          </a:prstGeom>
          <a:noFill/>
        </p:spPr>
        <p:txBody>
          <a:bodyPr wrap="square" lIns="13716" rIns="13716" tIns="0" bIns="0" anchor="ctr">
            <a:spAutoFit/>
          </a:bodyPr>
          <a:lstStyle/>
          <a:p>
            <a:pPr algn="l"/>
            <a:r>
              <a:rPr sz="3400" b="1">
                <a:solidFill>
                  <a:srgbClr val="1769C3"/>
                </a:solidFill>
                <a:latin typeface="DejaVu Sans Mono"/>
              </a:rPr>
              <a:t>AEC — Agent Easy Creator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